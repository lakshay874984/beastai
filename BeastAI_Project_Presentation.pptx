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473952"/>
            <a:ext cx="11064240" cy="0"/>
          </a:xfrm>
          <a:prstGeom prst="line">
            <a:avLst/>
          </a:prstGeom>
          <a:noFill/>
          <a:ln w="8890">
            <a:solidFill>
              <a:srgbClr val="D7DE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2881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BEASTAI  /  PROJECT PRESENTATION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-548640"/>
            <a:ext cx="4389120" cy="4389120"/>
          </a:xfrm>
          <a:prstGeom prst="arc">
            <a:avLst/>
          </a:prstGeom>
          <a:solidFill>
            <a:srgbClr val="14212B">
              <a:alpha val="0"/>
            </a:srgbClr>
          </a:solidFill>
          <a:ln w="31750">
            <a:solidFill>
              <a:srgbClr val="0F766E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91440"/>
            <a:ext cx="3200400" cy="3200400"/>
          </a:xfrm>
          <a:prstGeom prst="arc">
            <a:avLst/>
          </a:prstGeom>
          <a:solidFill>
            <a:srgbClr val="14212B">
              <a:alpha val="0"/>
            </a:srgbClr>
          </a:solidFill>
          <a:ln w="1651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9326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 PROJECT  / 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444752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BeastAI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31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8D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multi-agent AI productivity assistant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260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6E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conversational workspace for chat, search, coding, documents, images and presentations.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3822192"/>
            <a:ext cx="60350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40416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279392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Lakshay Tyagi  —  2302901540065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535424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Keshav Walia  —  2302901540060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791456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Kartik Tomar  —  2302901540058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5047488"/>
            <a:ext cx="3886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Manas Rautela  —  2302901540067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4279392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6E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Guide: Mr Anoop Kumar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460857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6E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Department: Data Science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4937760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6E1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ABESIT Group of Institution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3886200"/>
            <a:ext cx="475488" cy="475488"/>
          </a:xfrm>
          <a:prstGeom prst="ellipse">
            <a:avLst/>
          </a:prstGeom>
          <a:solidFill>
            <a:srgbClr val="F59E0B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2834640"/>
            <a:ext cx="475488" cy="475488"/>
          </a:xfrm>
          <a:prstGeom prst="ellipse">
            <a:avLst/>
          </a:prstGeom>
          <a:solidFill>
            <a:srgbClr val="0F766E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08208" y="3886200"/>
            <a:ext cx="475488" cy="475488"/>
          </a:xfrm>
          <a:prstGeom prst="ellipse">
            <a:avLst/>
          </a:prstGeom>
          <a:solidFill>
            <a:srgbClr val="2563EB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4937760"/>
            <a:ext cx="475488" cy="475488"/>
          </a:xfrm>
          <a:prstGeom prst="ellipse">
            <a:avLst/>
          </a:prstGeom>
          <a:solidFill>
            <a:srgbClr val="DC5A5A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25712" y="4114800"/>
            <a:ext cx="640080" cy="-914400"/>
          </a:xfrm>
          <a:prstGeom prst="line">
            <a:avLst/>
          </a:prstGeom>
          <a:noFill/>
          <a:ln w="15240">
            <a:solidFill>
              <a:srgbClr val="80A5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95560" y="3310128"/>
            <a:ext cx="640080" cy="804672"/>
          </a:xfrm>
          <a:prstGeom prst="line">
            <a:avLst/>
          </a:prstGeom>
          <a:noFill/>
          <a:ln w="15240">
            <a:solidFill>
              <a:srgbClr val="80A5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4590288"/>
            <a:ext cx="640080" cy="-658368"/>
          </a:xfrm>
          <a:prstGeom prst="line">
            <a:avLst/>
          </a:prstGeom>
          <a:noFill/>
          <a:ln w="15240">
            <a:solidFill>
              <a:srgbClr val="80A5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45168" y="367588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45168" y="385876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5806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220" kern="0" dirty="0">
                <a:solidFill>
                  <a:srgbClr val="9FB4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BEASTAI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CONTEXT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productivity problem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capability is fragmented across tools, formats and workflows.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429000" cy="2057400"/>
          </a:xfrm>
          <a:prstGeom prst="roundRect">
            <a:avLst>
              <a:gd name="adj" fmla="val 1778"/>
            </a:avLst>
          </a:prstGeom>
          <a:solidFill>
            <a:srgbClr val="FCE8E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73152" cy="2057400"/>
          </a:xfrm>
          <a:prstGeom prst="rect">
            <a:avLst/>
          </a:prstGeom>
          <a:solidFill>
            <a:srgbClr val="DC5A5A"/>
          </a:solidFill>
          <a:ln w="12700">
            <a:solidFill>
              <a:srgbClr val="DC5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switching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95728"/>
            <a:ext cx="30449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move between separate chat, search, coding, document and design tools.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429000" cy="2057400"/>
          </a:xfrm>
          <a:prstGeom prst="roundRect">
            <a:avLst>
              <a:gd name="adj" fmla="val 1778"/>
            </a:avLst>
          </a:prstGeom>
          <a:solidFill>
            <a:srgbClr val="FFF1D6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82880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20116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loss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395728"/>
            <a:ext cx="30449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conversation history and uploaded documents are disconnected from the task.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429000" cy="2057400"/>
          </a:xfrm>
          <a:prstGeom prst="roundRect">
            <a:avLst>
              <a:gd name="adj" fmla="val 1778"/>
            </a:avLst>
          </a:prstGeom>
          <a:solidFill>
            <a:srgbClr val="E7EE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828800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20116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friction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2395728"/>
            <a:ext cx="30449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useful outputs requires knowing multiple interfaces, formats and integrations.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opportunity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9560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conversational entry point can coordinate specialized AI capabilities while preserving context and output quality.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DIRECTION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and project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BeastAI is designed as a practical AI workspace, not a single-purpose chatbot.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84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Unify workflows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22128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one interface for conversation, search, code, files and generated media.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984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931152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intelligently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31152" y="22128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the most suitable specialized agent for each request.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630168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398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99032" y="3584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answers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99032" y="39684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uploaded PDF content and retrieval to support document-based responses.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6301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373989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3584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artifacts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39684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useful outputs such as code previews, PDFs, images and PPTX files.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" y="553212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D9F3EE"/>
          </a:solidFill>
          <a:ln w="12700">
            <a:solidFill>
              <a:srgbClr val="D9F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5412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0240" y="5532120"/>
            <a:ext cx="1074420" cy="310896"/>
          </a:xfrm>
          <a:prstGeom prst="roundRect">
            <a:avLst>
              <a:gd name="adj" fmla="val 17647"/>
            </a:avLst>
          </a:prstGeom>
          <a:solidFill>
            <a:srgbClr val="E7EEFF"/>
          </a:solidFill>
          <a:ln w="12700">
            <a:solidFill>
              <a:srgbClr val="E7EE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20240" y="5541264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90672" y="5532120"/>
            <a:ext cx="1074420" cy="310896"/>
          </a:xfrm>
          <a:prstGeom prst="roundRect">
            <a:avLst>
              <a:gd name="adj" fmla="val 17647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90672" y="5541264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Cloud-ready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70832" y="553212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70832" y="55412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Artifact-focused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PRODUCT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interface, many capabilities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agents turn natural-language requests into focused outputs.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6656" y="1828800"/>
            <a:ext cx="3438144" cy="1371600"/>
          </a:xfrm>
          <a:prstGeom prst="roundRect">
            <a:avLst>
              <a:gd name="adj" fmla="val 2667"/>
            </a:avLst>
          </a:prstGeom>
          <a:solidFill>
            <a:srgbClr val="D9F3EE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828800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0116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39572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Conversation, explanations and persistent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98848" y="1828800"/>
            <a:ext cx="3438144" cy="1371600"/>
          </a:xfrm>
          <a:prstGeom prst="roundRect">
            <a:avLst>
              <a:gd name="adj" fmla="val 2667"/>
            </a:avLst>
          </a:prstGeom>
          <a:solidFill>
            <a:srgbClr val="E7EE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82880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0116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39572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web information and image results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438144" cy="1371600"/>
          </a:xfrm>
          <a:prstGeom prst="roundRect">
            <a:avLst>
              <a:gd name="adj" fmla="val 2667"/>
            </a:avLst>
          </a:prstGeom>
          <a:solidFill>
            <a:srgbClr val="FFF1D6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82880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31352" y="20116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31352" y="239572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projects, file tabs and live previews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" y="3657600"/>
            <a:ext cx="3438144" cy="1371600"/>
          </a:xfrm>
          <a:prstGeom prst="roundRect">
            <a:avLst>
              <a:gd name="adj" fmla="val 2667"/>
            </a:avLst>
          </a:prstGeom>
          <a:solidFill>
            <a:srgbClr val="FCE8E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3657600"/>
            <a:ext cx="73152" cy="1371600"/>
          </a:xfrm>
          <a:prstGeom prst="rect">
            <a:avLst/>
          </a:prstGeom>
          <a:solidFill>
            <a:srgbClr val="DC5A5A"/>
          </a:solidFill>
          <a:ln w="12700">
            <a:solidFill>
              <a:srgbClr val="DC5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38404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+ RAG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422452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generation and grounded Q&amp;A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8848" y="3657600"/>
            <a:ext cx="3438144" cy="1371600"/>
          </a:xfrm>
          <a:prstGeom prst="roundRect">
            <a:avLst>
              <a:gd name="adj" fmla="val 2667"/>
            </a:avLst>
          </a:prstGeom>
          <a:solidFill>
            <a:srgbClr val="E2F2E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8848" y="3657600"/>
            <a:ext cx="73152" cy="137160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38404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22452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generation and uploaded-image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3657600"/>
            <a:ext cx="3438144" cy="1371600"/>
          </a:xfrm>
          <a:prstGeom prst="roundRect">
            <a:avLst>
              <a:gd name="adj" fmla="val 2667"/>
            </a:avLst>
          </a:prstGeom>
          <a:solidFill>
            <a:srgbClr val="E7EE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365760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31352" y="384048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31352" y="4224528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presentation generation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5778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240280" y="55138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speaks in tasks; BeastAI coordinates the technical workflow behind the scenes.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ARCHITECTURE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modular service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services keep authentication, conversations, agents and billing separated.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755648"/>
            <a:ext cx="10378440" cy="713232"/>
          </a:xfrm>
          <a:prstGeom prst="roundRect">
            <a:avLst>
              <a:gd name="adj" fmla="val 5128"/>
            </a:avLst>
          </a:prstGeom>
          <a:solidFill>
            <a:srgbClr val="D9F3E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8653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84708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  /  Vite  /  Redux Toolkit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33872" y="2523744"/>
            <a:ext cx="502920" cy="256032"/>
          </a:xfrm>
          <a:prstGeom prst="chevron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79776"/>
            <a:ext cx="10378440" cy="713232"/>
          </a:xfrm>
          <a:prstGeom prst="roundRect">
            <a:avLst>
              <a:gd name="adj" fmla="val 5128"/>
            </a:avLst>
          </a:prstGeom>
          <a:solidFill>
            <a:srgbClr val="FFF1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28895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POINT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871216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  /  CORS  /  Auth middleware  /  User header forwarding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33872" y="3547872"/>
            <a:ext cx="502920" cy="256032"/>
          </a:xfrm>
          <a:prstGeom prst="chevron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803904"/>
            <a:ext cx="10378440" cy="713232"/>
          </a:xfrm>
          <a:prstGeom prst="roundRect">
            <a:avLst>
              <a:gd name="adj" fmla="val 5128"/>
            </a:avLst>
          </a:prstGeom>
          <a:solidFill>
            <a:srgbClr val="E7EE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39136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SERVICES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895344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Service     Chat Service     Agent Service     Billing Service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33872" y="4572000"/>
            <a:ext cx="502920" cy="256032"/>
          </a:xfrm>
          <a:prstGeom prst="chevron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828032"/>
            <a:ext cx="10378440" cy="713232"/>
          </a:xfrm>
          <a:prstGeom prst="roundRect">
            <a:avLst>
              <a:gd name="adj" fmla="val 5128"/>
            </a:avLst>
          </a:prstGeom>
          <a:solidFill>
            <a:srgbClr val="FCE8E8"/>
          </a:solidFill>
          <a:ln w="13970">
            <a:solidFill>
              <a:srgbClr val="DC5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937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DC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INTEGRATIONS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491947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 /  Redis  /  AWS S3  /  Qdrant  /  Tavily  /  LLM providers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989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structure?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59253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ownership boundaries make the system easier to extend, operate and explain.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INTELLIGENCE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LangGraph agent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router decides which specialized capability should handle the request.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1755648" cy="1600200"/>
          </a:xfrm>
          <a:prstGeom prst="roundRect">
            <a:avLst>
              <a:gd name="adj" fmla="val 2857"/>
            </a:avLst>
          </a:prstGeom>
          <a:solidFill>
            <a:srgbClr val="D9F3EE"/>
          </a:solidFill>
          <a:ln w="1397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5968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96265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optional 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4872" y="2724912"/>
            <a:ext cx="347472" cy="256032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8648" y="2057400"/>
            <a:ext cx="1755648" cy="1600200"/>
          </a:xfrm>
          <a:prstGeom prst="roundRect">
            <a:avLst>
              <a:gd name="adj" fmla="val 2857"/>
            </a:avLst>
          </a:prstGeom>
          <a:solidFill>
            <a:srgbClr val="FFF1D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5968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96265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choice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model route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724912"/>
            <a:ext cx="347472" cy="256032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02936" y="2057400"/>
            <a:ext cx="1755648" cy="1600200"/>
          </a:xfrm>
          <a:prstGeom prst="roundRect">
            <a:avLst>
              <a:gd name="adj" fmla="val 2857"/>
            </a:avLst>
          </a:prstGeom>
          <a:solidFill>
            <a:srgbClr val="E7EE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7528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367528" y="25968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67528" y="296265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/ Search 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/ PDF / Vision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13448" y="2724912"/>
            <a:ext cx="347472" cy="256032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7224" y="2057400"/>
            <a:ext cx="1755648" cy="1600200"/>
          </a:xfrm>
          <a:prstGeom prst="roundRect">
            <a:avLst>
              <a:gd name="adj" fmla="val 2857"/>
            </a:avLst>
          </a:prstGeom>
          <a:solidFill>
            <a:srgbClr val="FCE8E8"/>
          </a:solidFill>
          <a:ln w="13970">
            <a:solidFill>
              <a:srgbClr val="DC5A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71816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671816" y="25968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71816" y="296265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Message, artifact,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or document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17736" y="2724912"/>
            <a:ext cx="347472" cy="256032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11512" y="2057400"/>
            <a:ext cx="1755648" cy="1600200"/>
          </a:xfrm>
          <a:prstGeom prst="roundRect">
            <a:avLst>
              <a:gd name="adj" fmla="val 2857"/>
            </a:avLst>
          </a:prstGeom>
          <a:solidFill>
            <a:srgbClr val="E2F2EF"/>
          </a:solidFill>
          <a:ln w="13970">
            <a:solidFill>
              <a:srgbClr val="115E5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76104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976104" y="259689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976104" y="2962656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saved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4389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routing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" y="486460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" y="473659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selected agent can be invoked directly for predictable control.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4088" y="529437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2688" y="516636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routing uses the request and file type to choose a path.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4088" y="572414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2688" y="5596128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specialized node ends cleanly after producing its response.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ENGINEERING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and 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combines modern web engineering with AI orchestration and cloud services.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474720" cy="3520440"/>
          </a:xfrm>
          <a:prstGeom prst="roundRect">
            <a:avLst>
              <a:gd name="adj" fmla="val 1053"/>
            </a:avLst>
          </a:prstGeom>
          <a:solidFill>
            <a:srgbClr val="D9F3EE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73152" cy="3520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95728"/>
            <a:ext cx="309067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Redux Toolkit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Auth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Monaco Editor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 + syntax highlighting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74720" cy="3520440"/>
          </a:xfrm>
          <a:prstGeom prst="roundRect">
            <a:avLst>
              <a:gd name="adj" fmla="val 1053"/>
            </a:avLst>
          </a:prstGeom>
          <a:solidFill>
            <a:srgbClr val="FFF1D6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1828800"/>
            <a:ext cx="73152" cy="352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2856" y="20116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395728"/>
            <a:ext cx="309067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services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workflow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persistence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 sessions and limits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Multer file handling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474720" cy="3520440"/>
          </a:xfrm>
          <a:prstGeom prst="roundRect">
            <a:avLst>
              <a:gd name="adj" fmla="val 1053"/>
            </a:avLst>
          </a:prstGeom>
          <a:solidFill>
            <a:srgbClr val="E7EE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828800"/>
            <a:ext cx="73152" cy="352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57032" y="20116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57032" y="2395728"/>
            <a:ext cx="309067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Groq, Gemini and OpenRouter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S3 object storage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Qdrant vector search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Tavily web search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payments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support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715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principle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565099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right tool for each stage: route, reason, retrieve, generate, store and render.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CAPABILITY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intelligence and multimodal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BeastAI works across unstructured documents, images and generated artifacts.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1682496" cy="1389888"/>
          </a:xfrm>
          <a:prstGeom prst="roundRect">
            <a:avLst>
              <a:gd name="adj" fmla="val 2632"/>
            </a:avLst>
          </a:prstGeom>
          <a:solidFill>
            <a:srgbClr val="D9F3E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029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50592"/>
            <a:ext cx="1344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is received through the chat workflow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68296" y="2404872"/>
            <a:ext cx="347472" cy="256032"/>
          </a:xfrm>
          <a:prstGeom prst="chevron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828800"/>
            <a:ext cx="1682496" cy="1389888"/>
          </a:xfrm>
          <a:prstGeom prst="roundRect">
            <a:avLst>
              <a:gd name="adj" fmla="val 2632"/>
            </a:avLst>
          </a:prstGeom>
          <a:solidFill>
            <a:srgbClr val="FFF1D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2029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26664" y="2450592"/>
            <a:ext cx="1344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is parsed and split into useful chunks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2404872"/>
            <a:ext cx="347472" cy="256032"/>
          </a:xfrm>
          <a:prstGeom prst="chevron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1828800"/>
            <a:ext cx="1682496" cy="1389888"/>
          </a:xfrm>
          <a:prstGeom prst="roundRect">
            <a:avLst>
              <a:gd name="adj" fmla="val 2632"/>
            </a:avLst>
          </a:prstGeom>
          <a:solidFill>
            <a:srgbClr val="D9F3E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85232" y="2029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2450592"/>
            <a:ext cx="1344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 become vectors for similarity 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85432" y="2404872"/>
            <a:ext cx="347472" cy="256032"/>
          </a:xfrm>
          <a:prstGeom prst="chevron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7496" y="1828800"/>
            <a:ext cx="1682496" cy="1389888"/>
          </a:xfrm>
          <a:prstGeom prst="roundRect">
            <a:avLst>
              <a:gd name="adj" fmla="val 2632"/>
            </a:avLst>
          </a:prstGeom>
          <a:solidFill>
            <a:srgbClr val="FFF1D6"/>
          </a:solidFill>
          <a:ln w="12700">
            <a:solidFill>
              <a:srgbClr val="DC5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3800" y="2029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450592"/>
            <a:ext cx="1344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Qdrant returns relevant document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2404872"/>
            <a:ext cx="347472" cy="256032"/>
          </a:xfrm>
          <a:prstGeom prst="chevron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56064" y="1828800"/>
            <a:ext cx="1682496" cy="1389888"/>
          </a:xfrm>
          <a:prstGeom prst="roundRect">
            <a:avLst>
              <a:gd name="adj" fmla="val 2632"/>
            </a:avLst>
          </a:prstGeom>
          <a:solidFill>
            <a:srgbClr val="D9F3EE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02368" y="2029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2450592"/>
            <a:ext cx="1344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responds using grounded context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886200"/>
            <a:ext cx="3474720" cy="1280160"/>
          </a:xfrm>
          <a:prstGeom prst="roundRect">
            <a:avLst>
              <a:gd name="adj" fmla="val 2857"/>
            </a:avLst>
          </a:prstGeom>
          <a:solidFill>
            <a:srgbClr val="FCE8E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886200"/>
            <a:ext cx="73152" cy="1280160"/>
          </a:xfrm>
          <a:prstGeom prst="rect">
            <a:avLst/>
          </a:prstGeom>
          <a:solidFill>
            <a:srgbClr val="DC5A5A"/>
          </a:solidFill>
          <a:ln w="12700">
            <a:solidFill>
              <a:srgbClr val="DC5A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0690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understanding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453128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images are routed to a multimodal analysis agent.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52544" y="3886200"/>
            <a:ext cx="3474720" cy="1280160"/>
          </a:xfrm>
          <a:prstGeom prst="roundRect">
            <a:avLst>
              <a:gd name="adj" fmla="val 2857"/>
            </a:avLst>
          </a:prstGeom>
          <a:solidFill>
            <a:srgbClr val="E7EE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2544" y="3886200"/>
            <a:ext cx="73152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62856" y="40690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media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62856" y="4453128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Vision, PDF and PPT agents turn prompts into reusable outputs.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3886200"/>
            <a:ext cx="3474720" cy="1280160"/>
          </a:xfrm>
          <a:prstGeom prst="roundRect">
            <a:avLst>
              <a:gd name="adj" fmla="val 2857"/>
            </a:avLst>
          </a:prstGeom>
          <a:solidFill>
            <a:srgbClr val="D9F3EE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3886200"/>
            <a:ext cx="73152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57032" y="406908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artifacts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57032" y="4453128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output is presented as files with an interactive preview.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715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is a design choice: retrieve relevant evidence before answering document questions.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TRUST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reliability and resource management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design includes practical controls while leaving room for formal hardening.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D9F3EE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01168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95728"/>
            <a:ext cx="4690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token verification and authenticated gateway forwarding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FFF1D6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2880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201168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Abuse control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395728"/>
            <a:ext cx="4690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Redis-backed sessions, agent limits and credit deduction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E7EEFF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461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" y="342900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813048"/>
            <a:ext cx="4690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Razorpay order flow with signature verification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24612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FCE8E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246120"/>
            <a:ext cx="73152" cy="1051560"/>
          </a:xfrm>
          <a:prstGeom prst="rect">
            <a:avLst/>
          </a:prstGeom>
          <a:solidFill>
            <a:srgbClr val="DC5A5A"/>
          </a:solidFill>
          <a:ln w="12700">
            <a:solidFill>
              <a:srgbClr val="DC5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8232" y="342900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handling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3813048"/>
            <a:ext cx="4690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storage with time-limited download URLs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010912"/>
            <a:ext cx="10652760" cy="777240"/>
          </a:xfrm>
          <a:prstGeom prst="roundRect">
            <a:avLst>
              <a:gd name="adj" fmla="val 4706"/>
            </a:avLst>
          </a:prstGeom>
          <a:solidFill>
            <a:srgbClr val="FFF7E8"/>
          </a:solidFill>
          <a:ln w="10160">
            <a:solidFill>
              <a:srgbClr val="F4D69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5184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trust layer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450592" y="5111496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structured observability, privacy documentation, input validation and evaluation metrics before production scale.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IMPACT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alignment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contribution is to innovation infrastructure, with practical education and productivity benefits.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652760" cy="1024128"/>
          </a:xfrm>
          <a:prstGeom prst="roundRect">
            <a:avLst>
              <a:gd name="adj" fmla="val 3571"/>
            </a:avLst>
          </a:prstGeom>
          <a:solidFill>
            <a:srgbClr val="D9F3E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47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9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774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93852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Industry, Innovation and Infrastructure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947672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services, LangGraph orchestration, vector retrieval and cloud integrations demonstrate an extensible digital AI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36392"/>
            <a:ext cx="10652760" cy="1024128"/>
          </a:xfrm>
          <a:prstGeom prst="roundRect">
            <a:avLst>
              <a:gd name="adj" fmla="val 3571"/>
            </a:avLst>
          </a:prstGeom>
          <a:solidFill>
            <a:srgbClr val="E7EE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3009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73075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1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2918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Education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300984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explanations, coding assistance and document Q&amp;A can make learning resources easier to explore.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489704"/>
            <a:ext cx="10652760" cy="1024128"/>
          </a:xfrm>
          <a:prstGeom prst="roundRect">
            <a:avLst>
              <a:gd name="adj" fmla="val 3571"/>
            </a:avLst>
          </a:prstGeom>
          <a:solidFill>
            <a:srgbClr val="FFF1D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6542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8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50840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1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64515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Decent Work and Economic Growth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4654296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of coding, search and document creation can reduce repetitive work and improve individual productivity.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989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 claim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59253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BeastAI provides enabling infrastructure; impact depends on responsible deployment and real user outcomes.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GRADUATE ATTRIBUTES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Outcome mapping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uses the standard NBA PO1-PO12 terminology; strength reflects repository evidence.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621792" cy="310896"/>
          </a:xfrm>
          <a:prstGeom prst="rect">
            <a:avLst/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728216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17320" y="1664208"/>
            <a:ext cx="2103120" cy="310896"/>
          </a:xfrm>
          <a:prstGeom prst="rect">
            <a:avLst/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90472" y="1728216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1664208"/>
            <a:ext cx="1234440" cy="310896"/>
          </a:xfrm>
          <a:prstGeom prst="rect">
            <a:avLst/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0752" y="1728216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74920" y="1664208"/>
            <a:ext cx="6144768" cy="310896"/>
          </a:xfrm>
          <a:prstGeom prst="rect">
            <a:avLst/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48072" y="1728216"/>
            <a:ext cx="5998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evidence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1975104"/>
            <a:ext cx="621792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0482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PO1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1417320" y="1975104"/>
            <a:ext cx="2103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90472" y="204825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knowledge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3657600" y="1975104"/>
            <a:ext cx="123444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204825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074920" y="1975104"/>
            <a:ext cx="614476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48072" y="2048256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React, Express, databases, distributed services and LLM integration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685800" y="2308860"/>
            <a:ext cx="621792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23820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PO2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1417320" y="2308860"/>
            <a:ext cx="210312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90472" y="23820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analysis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3657600" y="2308860"/>
            <a:ext cx="123444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30752" y="238201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5074920" y="2308860"/>
            <a:ext cx="6144768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48072" y="238201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routing, intent classification, retrieval and usage controls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85800" y="2642616"/>
            <a:ext cx="621792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271576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PO3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1417320" y="2642616"/>
            <a:ext cx="2103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490472" y="271576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/ development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657600" y="2642616"/>
            <a:ext cx="123444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30752" y="2715768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074920" y="2642616"/>
            <a:ext cx="614476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48072" y="2715768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microservices and specialized agent workflow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685800" y="2976372"/>
            <a:ext cx="621792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" y="30495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PO4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1417320" y="2976372"/>
            <a:ext cx="210312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490472" y="304952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3657600" y="2976372"/>
            <a:ext cx="123444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730752" y="304952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074920" y="2976372"/>
            <a:ext cx="6144768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48072" y="3049524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extraction, embeddings, Qdrant search and multimodal analysis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685800" y="3310128"/>
            <a:ext cx="621792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" y="338328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PO5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1417320" y="3310128"/>
            <a:ext cx="2103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490472" y="338328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tool usage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3657600" y="3310128"/>
            <a:ext cx="123444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730752" y="338328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5074920" y="3310128"/>
            <a:ext cx="614476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48072" y="3383280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LangGraph, Firebase, S3, Razorpay, Redis, Qdrant and Vite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685800" y="3643884"/>
            <a:ext cx="621792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58952" y="37170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PO6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1417320" y="3643884"/>
            <a:ext cx="210312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490472" y="37170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and society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3657600" y="3643884"/>
            <a:ext cx="123444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730752" y="37170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5074920" y="3643884"/>
            <a:ext cx="6144768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48072" y="3717036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 and productivity access; outcomes need user evidence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685800" y="3977640"/>
            <a:ext cx="621792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58952" y="4050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PO7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1417320" y="3977640"/>
            <a:ext cx="2103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490472" y="405079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3657600" y="3977640"/>
            <a:ext cx="123444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730752" y="405079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Indirect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5074920" y="3977640"/>
            <a:ext cx="614476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148072" y="405079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direct sustainability measurement in current implementation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685800" y="4311396"/>
            <a:ext cx="621792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58952" y="43845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PO8</a:t>
            </a:r>
            <a:endParaRPr lang="en-US" sz="860" dirty="0"/>
          </a:p>
        </p:txBody>
      </p:sp>
      <p:sp>
        <p:nvSpPr>
          <p:cNvPr id="71" name="Shape 69"/>
          <p:cNvSpPr/>
          <p:nvPr/>
        </p:nvSpPr>
        <p:spPr>
          <a:xfrm>
            <a:off x="1417320" y="4311396"/>
            <a:ext cx="210312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490472" y="438454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Ethics</a:t>
            </a:r>
            <a:endParaRPr lang="en-US" sz="860" dirty="0"/>
          </a:p>
        </p:txBody>
      </p:sp>
      <p:sp>
        <p:nvSpPr>
          <p:cNvPr id="73" name="Shape 71"/>
          <p:cNvSpPr/>
          <p:nvPr/>
        </p:nvSpPr>
        <p:spPr>
          <a:xfrm>
            <a:off x="3657600" y="4311396"/>
            <a:ext cx="123444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730752" y="4384548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860" dirty="0"/>
          </a:p>
        </p:txBody>
      </p:sp>
      <p:sp>
        <p:nvSpPr>
          <p:cNvPr id="75" name="Shape 73"/>
          <p:cNvSpPr/>
          <p:nvPr/>
        </p:nvSpPr>
        <p:spPr>
          <a:xfrm>
            <a:off x="5074920" y="4311396"/>
            <a:ext cx="6144768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48072" y="4384548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prompts, auth and payment checks; governance needs expansion</a:t>
            </a:r>
            <a:endParaRPr lang="en-US" sz="810" dirty="0"/>
          </a:p>
        </p:txBody>
      </p:sp>
      <p:sp>
        <p:nvSpPr>
          <p:cNvPr id="77" name="Shape 75"/>
          <p:cNvSpPr/>
          <p:nvPr/>
        </p:nvSpPr>
        <p:spPr>
          <a:xfrm>
            <a:off x="685800" y="4645152"/>
            <a:ext cx="621792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58952" y="471830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PO9</a:t>
            </a:r>
            <a:endParaRPr lang="en-US" sz="860" dirty="0"/>
          </a:p>
        </p:txBody>
      </p:sp>
      <p:sp>
        <p:nvSpPr>
          <p:cNvPr id="79" name="Shape 77"/>
          <p:cNvSpPr/>
          <p:nvPr/>
        </p:nvSpPr>
        <p:spPr>
          <a:xfrm>
            <a:off x="1417320" y="4645152"/>
            <a:ext cx="2103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490472" y="471830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/ team work</a:t>
            </a:r>
            <a:endParaRPr lang="en-US" sz="860" dirty="0"/>
          </a:p>
        </p:txBody>
      </p:sp>
      <p:sp>
        <p:nvSpPr>
          <p:cNvPr id="81" name="Shape 79"/>
          <p:cNvSpPr/>
          <p:nvPr/>
        </p:nvSpPr>
        <p:spPr>
          <a:xfrm>
            <a:off x="3657600" y="4645152"/>
            <a:ext cx="123444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730752" y="471830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5074920" y="4645152"/>
            <a:ext cx="614476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148072" y="4718304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ownership boundaries; collaboration evidence not recorded</a:t>
            </a:r>
            <a:endParaRPr lang="en-US" sz="810" dirty="0"/>
          </a:p>
        </p:txBody>
      </p:sp>
      <p:sp>
        <p:nvSpPr>
          <p:cNvPr id="85" name="Shape 83"/>
          <p:cNvSpPr/>
          <p:nvPr/>
        </p:nvSpPr>
        <p:spPr>
          <a:xfrm>
            <a:off x="685800" y="4978908"/>
            <a:ext cx="621792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58952" y="505206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PO10</a:t>
            </a:r>
            <a:endParaRPr lang="en-US" sz="860" dirty="0"/>
          </a:p>
        </p:txBody>
      </p:sp>
      <p:sp>
        <p:nvSpPr>
          <p:cNvPr id="87" name="Shape 85"/>
          <p:cNvSpPr/>
          <p:nvPr/>
        </p:nvSpPr>
        <p:spPr>
          <a:xfrm>
            <a:off x="1417320" y="4978908"/>
            <a:ext cx="210312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490472" y="505206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860" dirty="0"/>
          </a:p>
        </p:txBody>
      </p:sp>
      <p:sp>
        <p:nvSpPr>
          <p:cNvPr id="89" name="Shape 87"/>
          <p:cNvSpPr/>
          <p:nvPr/>
        </p:nvSpPr>
        <p:spPr>
          <a:xfrm>
            <a:off x="3657600" y="4978908"/>
            <a:ext cx="123444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730752" y="505206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60" dirty="0"/>
          </a:p>
        </p:txBody>
      </p:sp>
      <p:sp>
        <p:nvSpPr>
          <p:cNvPr id="91" name="Shape 89"/>
          <p:cNvSpPr/>
          <p:nvPr/>
        </p:nvSpPr>
        <p:spPr>
          <a:xfrm>
            <a:off x="5074920" y="4978908"/>
            <a:ext cx="6144768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148072" y="5052060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Markdown, artifacts, PDFs, images, PPTX and live previews</a:t>
            </a:r>
            <a:endParaRPr lang="en-US" sz="810" dirty="0"/>
          </a:p>
        </p:txBody>
      </p:sp>
      <p:sp>
        <p:nvSpPr>
          <p:cNvPr id="93" name="Shape 91"/>
          <p:cNvSpPr/>
          <p:nvPr/>
        </p:nvSpPr>
        <p:spPr>
          <a:xfrm>
            <a:off x="685800" y="5312664"/>
            <a:ext cx="621792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58952" y="53858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PO11</a:t>
            </a:r>
            <a:endParaRPr lang="en-US" sz="860" dirty="0"/>
          </a:p>
        </p:txBody>
      </p:sp>
      <p:sp>
        <p:nvSpPr>
          <p:cNvPr id="95" name="Shape 93"/>
          <p:cNvSpPr/>
          <p:nvPr/>
        </p:nvSpPr>
        <p:spPr>
          <a:xfrm>
            <a:off x="1417320" y="5312664"/>
            <a:ext cx="2103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490472" y="538581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management</a:t>
            </a:r>
            <a:endParaRPr lang="en-US" sz="860" dirty="0"/>
          </a:p>
        </p:txBody>
      </p:sp>
      <p:sp>
        <p:nvSpPr>
          <p:cNvPr id="97" name="Shape 95"/>
          <p:cNvSpPr/>
          <p:nvPr/>
        </p:nvSpPr>
        <p:spPr>
          <a:xfrm>
            <a:off x="3657600" y="5312664"/>
            <a:ext cx="123444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730752" y="538581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</a:t>
            </a:r>
            <a:endParaRPr lang="en-US" sz="860" dirty="0"/>
          </a:p>
        </p:txBody>
      </p:sp>
      <p:sp>
        <p:nvSpPr>
          <p:cNvPr id="99" name="Shape 97"/>
          <p:cNvSpPr/>
          <p:nvPr/>
        </p:nvSpPr>
        <p:spPr>
          <a:xfrm>
            <a:off x="5074920" y="5312664"/>
            <a:ext cx="614476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148072" y="5385816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Credits, plans, rate limits and service separation</a:t>
            </a:r>
            <a:endParaRPr lang="en-US" sz="810" dirty="0"/>
          </a:p>
        </p:txBody>
      </p:sp>
      <p:sp>
        <p:nvSpPr>
          <p:cNvPr id="101" name="Shape 99"/>
          <p:cNvSpPr/>
          <p:nvPr/>
        </p:nvSpPr>
        <p:spPr>
          <a:xfrm>
            <a:off x="685800" y="5646420"/>
            <a:ext cx="621792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58952" y="57195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PO12</a:t>
            </a:r>
            <a:endParaRPr lang="en-US" sz="860" dirty="0"/>
          </a:p>
        </p:txBody>
      </p:sp>
      <p:sp>
        <p:nvSpPr>
          <p:cNvPr id="103" name="Shape 101"/>
          <p:cNvSpPr/>
          <p:nvPr/>
        </p:nvSpPr>
        <p:spPr>
          <a:xfrm>
            <a:off x="1417320" y="5646420"/>
            <a:ext cx="210312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490472" y="571957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Life-long learning</a:t>
            </a:r>
            <a:endParaRPr lang="en-US" sz="860" dirty="0"/>
          </a:p>
        </p:txBody>
      </p:sp>
      <p:sp>
        <p:nvSpPr>
          <p:cNvPr id="105" name="Shape 103"/>
          <p:cNvSpPr/>
          <p:nvPr/>
        </p:nvSpPr>
        <p:spPr>
          <a:xfrm>
            <a:off x="3657600" y="5646420"/>
            <a:ext cx="1234440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730752" y="571957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</a:t>
            </a:r>
            <a:endParaRPr lang="en-US" sz="860" dirty="0"/>
          </a:p>
        </p:txBody>
      </p:sp>
      <p:sp>
        <p:nvSpPr>
          <p:cNvPr id="107" name="Shape 105"/>
          <p:cNvSpPr/>
          <p:nvPr/>
        </p:nvSpPr>
        <p:spPr>
          <a:xfrm>
            <a:off x="5074920" y="5646420"/>
            <a:ext cx="6144768" cy="333756"/>
          </a:xfrm>
          <a:prstGeom prst="rect">
            <a:avLst/>
          </a:prstGeom>
          <a:solidFill>
            <a:srgbClr val="F0F3F5"/>
          </a:solidFill>
          <a:ln w="5080">
            <a:solidFill>
              <a:srgbClr val="D7DEE5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5148072" y="5719572"/>
            <a:ext cx="5998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Extensible agent design enables ongoing capability growth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REFLECTION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5836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results, limitations and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demonstrates breadth; the next phase should add measured quality and production readiness.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3474720" cy="3401568"/>
          </a:xfrm>
          <a:prstGeom prst="roundRect">
            <a:avLst>
              <a:gd name="adj" fmla="val 1075"/>
            </a:avLst>
          </a:prstGeom>
          <a:solidFill>
            <a:srgbClr val="D9F3EE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55648"/>
            <a:ext cx="73152" cy="34015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385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works today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22576"/>
            <a:ext cx="309067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chat workflow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conversations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and image uploads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 artifacts with preview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and image results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PDF, PPT and media outputs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755648"/>
            <a:ext cx="3474720" cy="3401568"/>
          </a:xfrm>
          <a:prstGeom prst="roundRect">
            <a:avLst>
              <a:gd name="adj" fmla="val 1075"/>
            </a:avLst>
          </a:prstGeom>
          <a:solidFill>
            <a:srgbClr val="FCE8E8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1755648"/>
            <a:ext cx="73152" cy="3401568"/>
          </a:xfrm>
          <a:prstGeom prst="rect">
            <a:avLst/>
          </a:prstGeom>
          <a:solidFill>
            <a:srgbClr val="DC5A5A"/>
          </a:solidFill>
          <a:ln w="12700">
            <a:solidFill>
              <a:srgbClr val="DC5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2856" y="19385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322576"/>
            <a:ext cx="309067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model and cloud dependency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repository benchmark results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formal observability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and governance need documentation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and cost metrics need study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755648"/>
            <a:ext cx="3474720" cy="3401568"/>
          </a:xfrm>
          <a:prstGeom prst="roundRect">
            <a:avLst>
              <a:gd name="adj" fmla="val 1075"/>
            </a:avLst>
          </a:prstGeom>
          <a:solidFill>
            <a:srgbClr val="FFF1D6"/>
          </a:solidFill>
          <a:ln w="1016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755648"/>
            <a:ext cx="73152" cy="3401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57032" y="19385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phase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57032" y="2322576"/>
            <a:ext cx="309067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tests and evaluation sets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Tracing, latency and cost dashboards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Privacy, safety and audit controls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UX improvements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1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Caching and deployment hardening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687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847088" y="56235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BeastAI is a working foundation for a unified, extensible AI productivity platform.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27648"/>
            <a:ext cx="12191695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96596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5292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9E4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0644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spc="120" kern="0" dirty="0">
                <a:solidFill>
                  <a:srgbClr val="B0D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BeastAI  /  A multi-agent AI productivity assistant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BeastAI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BeastAI - Multi-Agent AI Productivity Assistant</dc:title>
  <dc:subject>College project presentation with SDG and PO mapping</dc:subject>
  <dc:creator>BeastAI Project Team</dc:creator>
  <cp:lastModifiedBy>BeastAI Project Team</cp:lastModifiedBy>
  <cp:revision>1</cp:revision>
  <dcterms:created xsi:type="dcterms:W3CDTF">2026-08-20T06:01:57Z</dcterms:created>
  <dcterms:modified xsi:type="dcterms:W3CDTF">2026-08-20T06:01:57Z</dcterms:modified>
</cp:coreProperties>
</file>